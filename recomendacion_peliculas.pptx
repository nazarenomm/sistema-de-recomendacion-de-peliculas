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gl1p1xZ8RrWySQK53O8OilfwqU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60C57BC-B5FC-4691-A6F9-2A176647A362}">
  <a:tblStyle styleId="{D60C57BC-B5FC-4691-A6F9-2A176647A36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1645920"/>
            <a:ext cx="9144000" cy="192024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57200" y="178308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Sistema de Recomendación de Películas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Basado en </a:t>
            </a:r>
            <a:r>
              <a:rPr lang="en-US" sz="22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NLP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400"/>
              <a:buFont typeface="Calibri"/>
              <a:buNone/>
            </a:pPr>
            <a:r>
              <a:rPr lang="en-US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Agustín Sigales</a:t>
            </a:r>
            <a:endParaRPr>
              <a:solidFill>
                <a:srgbClr val="A0AE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400"/>
              <a:buFont typeface="Calibri"/>
              <a:buNone/>
            </a:pPr>
            <a:r>
              <a:rPr lang="en-US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Nazareno Magallanes</a:t>
            </a:r>
            <a:endParaRPr>
              <a:solidFill>
                <a:srgbClr val="A0AE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Trabajo Final Integrador — Introducción al PLN  ·  Junio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Problema &amp; Dataset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274320" y="1051560"/>
            <a:ext cx="4114800" cy="3566160"/>
          </a:xfrm>
          <a:prstGeom prst="roundRect">
            <a:avLst>
              <a:gd fmla="val 205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4754880" y="1051560"/>
            <a:ext cx="4114800" cy="3566160"/>
          </a:xfrm>
          <a:prstGeom prst="roundRect">
            <a:avLst>
              <a:gd fmla="val 205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457200" y="118872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🎯  El Problema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57200" y="1691640"/>
            <a:ext cx="374904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Generar recomendaciones personalizadas de películas sin ratings explícitos ni interacciones colaborativas.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Solo se dispone de: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Contenido textual (sinopsis, géneros, palabras clave)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Historial de 5 películas por usuario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Una query en lenguaje natural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937760" y="118872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📊  El Dataset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937760" y="1691640"/>
            <a:ext cx="374904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~4.970 películas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en español con: sinopsis, género, año, director, palabras clave.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14 perfiles de usuario simulados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5 películas de historial + 1 query por usuario.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Objetivo: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top-5 recomendaciones por usuario.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⚠  Evaluación: sin ground-truth de películas correctas → se usó GÉNERO como proxy de relevancia (9/14 usuarios con géneros etiquetados manualmente)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Metodología de Evaluación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274320" y="1051560"/>
            <a:ext cx="3977640" cy="1874520"/>
          </a:xfrm>
          <a:prstGeom prst="roundRect">
            <a:avLst>
              <a:gd fmla="val 3902" name="adj"/>
            </a:avLst>
          </a:prstGeom>
          <a:solidFill>
            <a:srgbClr val="EBF4FF"/>
          </a:solidFill>
          <a:ln cap="flat" cmpd="sng" w="9525">
            <a:solidFill>
              <a:srgbClr val="BFD7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457200" y="114300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Paso 1 — Etiquetado manual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457200" y="1536192"/>
            <a:ext cx="3657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Sin ground-truth, se inspeccionaron los géneros del historial y la query de cada usuario. Para los 9 perfiles "definidos" (preferencias claras y consistentes) se asignaron a mano 3 géneros esperados.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4892040" y="1051560"/>
            <a:ext cx="3977640" cy="1874520"/>
          </a:xfrm>
          <a:prstGeom prst="roundRect">
            <a:avLst>
              <a:gd fmla="val 3902" name="adj"/>
            </a:avLst>
          </a:prstGeom>
          <a:solidFill>
            <a:srgbClr val="EBF4FF"/>
          </a:solidFill>
          <a:ln cap="flat" cmpd="sng" w="9525">
            <a:solidFill>
              <a:srgbClr val="BFD7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5074920" y="114300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Paso 2 — Cálculo de métricas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5074925" y="1536208"/>
            <a:ext cx="36576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Para cada usuario se toman los géneros de las 5 películas recomendadas y se comparan con los 3 géneros esperados</a:t>
            </a:r>
            <a: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1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Además, vamos a realizar una evaluación parcial humana de un puñado de recomendaciones.</a:t>
            </a:r>
            <a:endParaRPr sz="11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274320" y="3108960"/>
            <a:ext cx="2834640" cy="1508760"/>
          </a:xfrm>
          <a:prstGeom prst="roundRect">
            <a:avLst>
              <a:gd fmla="val 4848" name="adj"/>
            </a:avLst>
          </a:prstGeom>
          <a:solidFill>
            <a:srgbClr val="D1FAE5"/>
          </a:solidFill>
          <a:ln cap="flat" cmpd="sng" w="12700">
            <a:solidFill>
              <a:srgbClr val="6EE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411480" y="3218688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Recall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411480" y="3639312"/>
            <a:ext cx="2560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b="0" i="0" lang="en-US" sz="10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éneros esperados que aparecen en el top-5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3246120" y="3108960"/>
            <a:ext cx="2834640" cy="1508760"/>
          </a:xfrm>
          <a:prstGeom prst="roundRect">
            <a:avLst>
              <a:gd fmla="val 4848" name="adj"/>
            </a:avLst>
          </a:prstGeom>
          <a:solidFill>
            <a:srgbClr val="FEF3C7"/>
          </a:solidFill>
          <a:ln cap="flat" cmpd="sng" w="12700">
            <a:solidFill>
              <a:srgbClr val="FCD3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3383280" y="3218688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Precisión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3383280" y="3639312"/>
            <a:ext cx="2560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10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elículas del top-5 con al menos 1 género esperado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6217920" y="3108960"/>
            <a:ext cx="2834640" cy="1508760"/>
          </a:xfrm>
          <a:prstGeom prst="roundRect">
            <a:avLst>
              <a:gd fmla="val 4848" name="adj"/>
            </a:avLst>
          </a:prstGeom>
          <a:solidFill>
            <a:srgbClr val="EDE9FE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6355080" y="3218688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F1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6355080" y="3639312"/>
            <a:ext cx="2560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0" lang="en-US" sz="10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edia armónica de Recall y Precisión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274320" y="4681728"/>
            <a:ext cx="8595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⚠  Limitación: el género aparece también en el texto representativo de cada película, lo que genera una validación parcialmente circular.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/>
          <p:nvPr/>
        </p:nvSpPr>
        <p:spPr>
          <a:xfrm>
            <a:off x="0" y="1554480"/>
            <a:ext cx="9144000" cy="21031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Enfoque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Embeddings con Sentence-Transformer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57200" y="2514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Query + historial → vector único → similitud coseno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Enfoque 1 </a:t>
            </a:r>
            <a:r>
              <a:rPr b="1" lang="en-US" sz="18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— </a:t>
            </a: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¿Cómo funciona?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274320" y="960120"/>
            <a:ext cx="4114800" cy="1170432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10150">
            <a:solidFill>
              <a:srgbClr val="D1F5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384048" y="1307592"/>
            <a:ext cx="384048" cy="384048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384048" y="130759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841248" y="1033272"/>
            <a:ext cx="3456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144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Texto unificado de película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841248" y="1380744"/>
            <a:ext cx="345643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Nombre + </a:t>
            </a:r>
            <a: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inopsis + </a:t>
            </a:r>
            <a: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irector + </a:t>
            </a:r>
            <a: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ño + </a:t>
            </a:r>
            <a: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éneros + </a:t>
            </a:r>
            <a: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eywords</a:t>
            </a: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(limpiados </a:t>
            </a:r>
            <a: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residuos del parseo del </a:t>
            </a: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HTML y caracteres extraños)</a:t>
            </a: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274320" y="2258568"/>
            <a:ext cx="4114800" cy="1170432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10150">
            <a:solidFill>
              <a:srgbClr val="D1F5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384048" y="2606040"/>
            <a:ext cx="384048" cy="384048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384048" y="26060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841248" y="2331720"/>
            <a:ext cx="3456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144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Embeddings de películas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841248" y="2679192"/>
            <a:ext cx="345643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Se codifica cada texto con paraphrase-multilingual-MiniLM-L12-v2 → un vector de 384 dimensiones por película.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274320" y="3557016"/>
            <a:ext cx="4114800" cy="1170432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10150">
            <a:solidFill>
              <a:srgbClr val="D1F5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384048" y="3904488"/>
            <a:ext cx="384048" cy="384048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384048" y="39044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841248" y="3630168"/>
            <a:ext cx="34564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144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Texto de usuario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841248" y="3977640"/>
            <a:ext cx="345643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Se concatena la query del usuario con el texto completo de sus 5 películas de historial en un único string.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4754880" y="960120"/>
            <a:ext cx="4114800" cy="1170432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10150">
            <a:solidFill>
              <a:srgbClr val="D1F5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4864608" y="1307592"/>
            <a:ext cx="384048" cy="384048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4864608" y="130759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321808" y="1033272"/>
            <a:ext cx="34564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144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Embedding de usuario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5321808" y="1380744"/>
            <a:ext cx="345643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El mismo modelo codifica ese texto concatenado → vector de 384 dims que mezcla query e historial.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754880" y="2258568"/>
            <a:ext cx="4114800" cy="1170432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10150">
            <a:solidFill>
              <a:srgbClr val="D1F5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4864608" y="2606040"/>
            <a:ext cx="384048" cy="384048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4864608" y="26060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5321808" y="2331720"/>
            <a:ext cx="34564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144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Similitud coseno + top-5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5321808" y="2679192"/>
            <a:ext cx="345643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Se calcula la similitud coseno entre el vector de usuario y todos los de películas. Las ya vistas se excluyen y se devuelven las 5 más similares.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Enfoque 1 — Top-5 Recomendaciones por Usuario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6" name="Google Shape;106;p6"/>
          <p:cNvGraphicFramePr/>
          <p:nvPr/>
        </p:nvGraphicFramePr>
        <p:xfrm>
          <a:off x="13716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{D60C57BC-B5FC-4691-A6F9-2A176647A362}</a:tableStyleId>
              </a:tblPr>
              <a:tblGrid>
                <a:gridCol w="914400"/>
                <a:gridCol w="1591050"/>
                <a:gridCol w="1591050"/>
                <a:gridCol w="1591050"/>
                <a:gridCol w="1591050"/>
                <a:gridCol w="15910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Usuario</a:t>
                      </a:r>
                      <a:endParaRPr sz="9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#1</a:t>
                      </a:r>
                      <a:endParaRPr sz="9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#2</a:t>
                      </a:r>
                      <a:endParaRPr sz="9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#3</a:t>
                      </a:r>
                      <a:endParaRPr sz="9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#4</a:t>
                      </a:r>
                      <a:endParaRPr sz="9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#5</a:t>
                      </a:r>
                      <a:endParaRPr sz="9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A1A2E"/>
                          </a:solidFill>
                        </a:rPr>
                        <a:t>Valentina</a:t>
                      </a:r>
                      <a:endParaRPr sz="7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Tránsito (2006)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La mano que mece la cuna (1992)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Begotten (1991)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Truly Madly Deeply (1992)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La novia cadáver (2005)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A1A2E"/>
                          </a:solidFill>
                        </a:rPr>
                        <a:t>Rodrigo</a:t>
                      </a:r>
                      <a:endParaRPr sz="7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Historia de un soldado (1985)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Monster's Ball (2002)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Vida de este chico (1994)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Una árida estación blanca (1989)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Gorilas en la niebla (1989)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A1A2E"/>
                          </a:solidFill>
                        </a:rPr>
                        <a:t>Camila</a:t>
                      </a:r>
                      <a:endParaRPr sz="7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Ahora los padres son ellos (2010)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Mira quién habla también (1991)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Más allá del odio (2005)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Swingers (1997)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La familia Addams (1992)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A1A2E"/>
                          </a:solidFill>
                        </a:rPr>
                        <a:t>Tomás</a:t>
                      </a:r>
                      <a:endParaRPr sz="7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La red (1995)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Pulse / Conexión (2007)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El cortador de césped (1992)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Nivel 13 (1999)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Proyecto Brainstorm (1983)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A1A2E"/>
                          </a:solidFill>
                        </a:rPr>
                        <a:t>Lucía</a:t>
                      </a:r>
                      <a:endParaRPr sz="7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Tránsito (2006)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Begotten (1991)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Durmiendo con su enemigo (1991)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La mano que mece la cuna (1992)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Crónica de un engaño (2010)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A1A2E"/>
                          </a:solidFill>
                        </a:rPr>
                        <a:t>Martín</a:t>
                      </a:r>
                      <a:endParaRPr sz="7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Como pez en el agua (1998)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El negociador (1997)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Persecución extrema (2007)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Albino Alligator (1997)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¡Que te calles! (2004)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A1A2E"/>
                          </a:solidFill>
                        </a:rPr>
                        <a:t>Sofía</a:t>
                      </a:r>
                      <a:endParaRPr sz="7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Ray (2005)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Hedwig and the Angry Inch (2001)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La diva (1981)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Miedo y asco en Las Vegas (1999)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El corazón del ángel (1987)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A1A2E"/>
                          </a:solidFill>
                        </a:rPr>
                        <a:t>Diego</a:t>
                      </a:r>
                      <a:endParaRPr sz="7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Hollywood: Dpto. de homicidios (2003)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Más fuerte que el odio (1988)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The Fast and the Furious (2001)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Max Payne (2008)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L.A. Confidential (1997)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A1A2E"/>
                          </a:solidFill>
                        </a:rPr>
                        <a:t>Elena</a:t>
                      </a:r>
                      <a:endParaRPr sz="7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Brothers (2010)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Algo en común (2005)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El turista accidental (1989)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Todos están bien (2010)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La vida de Pi (2012)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A1A2E"/>
                          </a:solidFill>
                        </a:rPr>
                        <a:t>Facundo</a:t>
                      </a:r>
                      <a:endParaRPr sz="7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Apocalipsis (1994)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Seul contre tous (1999)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Atando cabos (2002)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La última casa a la izq. (2009)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Aún sé lo que hicisteis... (1999)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A1A2E"/>
                          </a:solidFill>
                        </a:rPr>
                        <a:t>Julián</a:t>
                      </a:r>
                      <a:endParaRPr sz="7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Prince of Persia (2010)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La bella y la bestia (1992)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La princesa cisne (1995)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El emperador y sus locuras (2001)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Salvaje / The Wild (2006)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A1A2E"/>
                          </a:solidFill>
                        </a:rPr>
                        <a:t>Mariana</a:t>
                      </a:r>
                      <a:endParaRPr sz="7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Juana de Arco de Besson (2000)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El marido de la peluquera (1990)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Ángel (2007)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Belleza robada (1996)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El juego de Ripley (2003)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A1A2E"/>
                          </a:solidFill>
                        </a:rPr>
                        <a:t>Nicolás</a:t>
                      </a:r>
                      <a:endParaRPr sz="7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Titanic - La película animada (2000)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Buscando a Eva (1999)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Pearl Harbor (2001)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La hoguera de las vanidades (1990)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Matador (1986)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A1A2E"/>
                          </a:solidFill>
                        </a:rPr>
                        <a:t>Paula</a:t>
                      </a:r>
                      <a:endParaRPr sz="7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Sabrina (y sus amores) (1996)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Doble cuerpo (1985)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La desaparición de Embry (2004)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Fallen Angels (1995)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Luz de luna (1986)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Enfoque 1 — Métricas por Usuario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4" name="Google Shape;114;p7"/>
          <p:cNvGraphicFramePr/>
          <p:nvPr/>
        </p:nvGraphicFramePr>
        <p:xfrm>
          <a:off x="274320" y="960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{D60C57BC-B5FC-4691-A6F9-2A176647A362}</a:tableStyleId>
              </a:tblPr>
              <a:tblGrid>
                <a:gridCol w="1645925"/>
                <a:gridCol w="1005850"/>
                <a:gridCol w="1005850"/>
                <a:gridCol w="914400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Usuario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Recall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Precisión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F1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</a:rPr>
                        <a:t>Valentina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100.0%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100.0%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100.0%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</a:rPr>
                        <a:t>Rodrigo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66.7%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60.0%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63.2%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</a:rPr>
                        <a:t>Camila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100.0%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100.0%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100.0%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</a:rPr>
                        <a:t>Tomás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100.0%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100.0%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100.0%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</a:rPr>
                        <a:t>Lucía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33.3%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80.0%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47.1%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</a:rPr>
                        <a:t>Martín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100.0%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100.0%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100.0%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</a:rPr>
                        <a:t>Sofía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100.0%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80.0%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88.9%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</a:rPr>
                        <a:t>Diego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100.0%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100.0%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100.0%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</a:rPr>
                        <a:t>Elena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100.0%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100.0%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100.0%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A2E"/>
                          </a:solidFill>
                        </a:rPr>
                        <a:t>Promedio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4A5568"/>
                          </a:solidFill>
                        </a:rPr>
                        <a:t>88.9%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4A5568"/>
                          </a:solidFill>
                        </a:rPr>
                        <a:t>91.1%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4A5568"/>
                          </a:solidFill>
                        </a:rPr>
                        <a:t>88.8%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115" name="Google Shape;115;p7"/>
          <p:cNvSpPr/>
          <p:nvPr/>
        </p:nvSpPr>
        <p:spPr>
          <a:xfrm>
            <a:off x="5120640" y="960120"/>
            <a:ext cx="3749040" cy="4023360"/>
          </a:xfrm>
          <a:prstGeom prst="roundRect">
            <a:avLst>
              <a:gd fmla="val 195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5257788" y="960130"/>
            <a:ext cx="347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📝  Observaci</a:t>
            </a:r>
            <a:r>
              <a:rPr b="1" lang="en-US" sz="1300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ones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5257800" y="1371525"/>
            <a:ext cx="3474600" cy="35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Mejor F1 agregado (88.8%), pero varias recomendaciones con F1=100% no cumplen la query en trama.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Ej. Camila recibe 5 comedias (género correcto), pero ninguna </a:t>
            </a:r>
            <a: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cumple al pie con la query</a:t>
            </a: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Al mezclar query + historial en un único vector, una query vaga queda </a:t>
            </a:r>
            <a:r>
              <a:rPr b="1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dominada por el historial</a:t>
            </a: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00" u="none" cap="none" strike="noStrike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La métrica de medición humana sobre perfiles definidos:</a:t>
            </a:r>
            <a:b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Valentina: 2 de 5</a:t>
            </a:r>
            <a:endParaRPr sz="11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Rodrigo: 2 de 5</a:t>
            </a:r>
            <a:endParaRPr sz="11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Camila: 0 de 5</a:t>
            </a:r>
            <a:endParaRPr sz="11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Tomás: 2 de 5</a:t>
            </a:r>
            <a:endParaRPr sz="11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Lucía: 0 de 5</a:t>
            </a:r>
            <a:endParaRPr sz="11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Martín: 3 de 5</a:t>
            </a:r>
            <a:endParaRPr sz="11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Sofía: 2 de 5</a:t>
            </a:r>
            <a:endParaRPr sz="11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Diego: 3 de 5</a:t>
            </a:r>
            <a:endParaRPr sz="11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Elena: 2 de 5</a:t>
            </a:r>
            <a:endParaRPr sz="11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Total: 16 de 45 → Exactitud de 35.5%</a:t>
            </a:r>
            <a:endParaRPr b="1" sz="11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/>
          <p:nvPr/>
        </p:nvSpPr>
        <p:spPr>
          <a:xfrm>
            <a:off x="0" y="1554480"/>
            <a:ext cx="9144000" cy="210312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Enfoque 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Embeddings Ponderados con LLM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457200" y="2514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LLM clasifica intención de la query → pondera query vs. historial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Enfoque 2 — ¿Cómo funciona?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274320" y="960120"/>
            <a:ext cx="4846320" cy="841248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015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384048" y="1197864"/>
            <a:ext cx="365760" cy="365760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384048" y="119786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822960" y="1014984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144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Embeddings por separado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822960" y="1362456"/>
            <a:ext cx="4160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query_emb = encode(query)  |  hist_emb = promedio de los 5 embeddings del historial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274320" y="1920240"/>
            <a:ext cx="4846320" cy="841248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015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384048" y="2157984"/>
            <a:ext cx="365760" cy="365760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384048" y="215798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822960" y="1975104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144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LLM clasifica la intención (gemini-2.5-flash-lite)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822960" y="2322576"/>
            <a:ext cx="4160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Determina cuánto peso darle a query vs. historial y en qué dirección buscar.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274320" y="2880360"/>
            <a:ext cx="4846320" cy="841248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015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384048" y="3118104"/>
            <a:ext cx="365760" cy="365760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384048" y="311810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822960" y="2935224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144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Promedio ponderado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822960" y="3282696"/>
            <a:ext cx="4160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user_emb = weighted_avg([query_emb, hist_emb], pesos del LLM)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274320" y="3840480"/>
            <a:ext cx="4846320" cy="841248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015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384048" y="4078224"/>
            <a:ext cx="365760" cy="365760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384048" y="407822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822960" y="3895344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144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Similitud coseno + top/bottom-5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822960" y="4242816"/>
            <a:ext cx="4160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Filtra historial (score = -∞). Si la query es historial_negativo, devuelve el bottom-5 (menos similares).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5349240" y="960120"/>
            <a:ext cx="3520440" cy="3886200"/>
          </a:xfrm>
          <a:prstGeom prst="roundRect">
            <a:avLst>
              <a:gd fmla="val 2078" name="adj"/>
            </a:avLst>
          </a:prstGeom>
          <a:solidFill>
            <a:srgbClr val="FAF5FF"/>
          </a:solidFill>
          <a:ln cap="flat" cmpd="sng" w="1015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5486400" y="1051560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7C3AED"/>
                </a:solidFill>
                <a:latin typeface="Cambria"/>
                <a:ea typeface="Cambria"/>
                <a:cs typeface="Cambria"/>
                <a:sym typeface="Cambria"/>
              </a:rPr>
              <a:t>Categorías del LLM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5486400" y="1508760"/>
            <a:ext cx="3246120" cy="713232"/>
          </a:xfrm>
          <a:prstGeom prst="roundRect">
            <a:avLst>
              <a:gd fmla="val 6410" name="adj"/>
            </a:avLst>
          </a:prstGeom>
          <a:solidFill>
            <a:srgbClr val="EDE9FE"/>
          </a:solidFill>
          <a:ln cap="flat" cmpd="sng" w="9525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5596128" y="1545336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mbria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normal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5596128" y="1783080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80% query / 20% hist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7589520" y="1764792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top-5 ▲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5486400" y="2331720"/>
            <a:ext cx="3246120" cy="713232"/>
          </a:xfrm>
          <a:prstGeom prst="roundRect">
            <a:avLst>
              <a:gd fmla="val 6410" name="adj"/>
            </a:avLst>
          </a:prstGeom>
          <a:solidFill>
            <a:srgbClr val="F5F3FF"/>
          </a:solidFill>
          <a:ln cap="flat" cmpd="sng" w="9525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5596128" y="2368296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mbria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historial_positivo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5596128" y="2606040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20% query / 80% hist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7589520" y="2587752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top-5 ▲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5486400" y="3154680"/>
            <a:ext cx="3246120" cy="713232"/>
          </a:xfrm>
          <a:prstGeom prst="roundRect">
            <a:avLst>
              <a:gd fmla="val 6410" name="adj"/>
            </a:avLst>
          </a:prstGeom>
          <a:solidFill>
            <a:srgbClr val="FFF1F2"/>
          </a:solidFill>
          <a:ln cap="flat" cmpd="sng" w="9525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5596128" y="3191256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mbria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historial_negativo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5596128" y="3429000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20% query / 80% hist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7589520" y="3410712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bottom-5 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5486400" y="3977640"/>
            <a:ext cx="3246120" cy="713232"/>
          </a:xfrm>
          <a:prstGeom prst="roundRect">
            <a:avLst>
              <a:gd fmla="val 6410" name="adj"/>
            </a:avLst>
          </a:prstGeom>
          <a:solidFill>
            <a:srgbClr val="F5F3FF"/>
          </a:solidFill>
          <a:ln cap="flat" cmpd="sng" w="9525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5596128" y="4014216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mbria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no_evaluable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5596128" y="4251960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20% query / 80% hist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7589520" y="4233672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top-5 ▲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Enfoque 2 — Top-5 Recomendaciones por Usuario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9" name="Google Shape;179;p10"/>
          <p:cNvGraphicFramePr/>
          <p:nvPr/>
        </p:nvGraphicFramePr>
        <p:xfrm>
          <a:off x="13716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{D60C57BC-B5FC-4691-A6F9-2A176647A362}</a:tableStyleId>
              </a:tblPr>
              <a:tblGrid>
                <a:gridCol w="914400"/>
                <a:gridCol w="1591050"/>
                <a:gridCol w="1591050"/>
                <a:gridCol w="1591050"/>
                <a:gridCol w="1591050"/>
                <a:gridCol w="15910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Usuario</a:t>
                      </a:r>
                      <a:endParaRPr sz="9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#1</a:t>
                      </a:r>
                      <a:endParaRPr sz="9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#2</a:t>
                      </a:r>
                      <a:endParaRPr sz="9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#3</a:t>
                      </a:r>
                      <a:endParaRPr sz="9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#4</a:t>
                      </a:r>
                      <a:endParaRPr sz="9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#5</a:t>
                      </a:r>
                      <a:endParaRPr sz="9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C3AED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A1A2E"/>
                          </a:solidFill>
                        </a:rPr>
                        <a:t>Valentina</a:t>
                      </a:r>
                      <a:endParaRPr sz="7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El ente (1983)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Tránsito (2006)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Femme Fatale (2003)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Alone in the Dark (2006)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The Ring (2003)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A1A2E"/>
                          </a:solidFill>
                        </a:rPr>
                        <a:t>Rodrigo</a:t>
                      </a:r>
                      <a:endParaRPr sz="7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Enemigo público (1999)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El asesinato de R. Nixon (2006)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La noche cae sobre Manhattan (1997)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Dark Blue (2004)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Sospechoso (1988)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A1A2E"/>
                          </a:solidFill>
                        </a:rPr>
                        <a:t>Camila</a:t>
                      </a:r>
                      <a:endParaRPr sz="7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Escuela de novatos (2004)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La pareja basura (1991)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Misterioso asesinato en Manhattan (1994)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La comedia sexual... (1982)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Ensalada de gemelas (1988)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A1A2E"/>
                          </a:solidFill>
                        </a:rPr>
                        <a:t>Tomás</a:t>
                      </a:r>
                      <a:endParaRPr sz="7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Proyecto Brainstorm (1983)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Pequeños guerreros (1998)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El asesinato de R. Nixon (2006)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Paycheck (2004)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La gran huida (1984)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A1A2E"/>
                          </a:solidFill>
                        </a:rPr>
                        <a:t>Lucía</a:t>
                      </a:r>
                      <a:endParaRPr sz="7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Daredevil (2003)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Virtuosity (1995)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Número 9 (2010)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Code Geass (2006)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Cuentos de Terramar (2006)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A1A2E"/>
                          </a:solidFill>
                        </a:rPr>
                        <a:t>Martín</a:t>
                      </a:r>
                      <a:endParaRPr sz="7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Plan oculto (2006)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Supercañeras (2002)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Sin motivo aparente (2003)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Albino Alligator (1997)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Heat (1996)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A1A2E"/>
                          </a:solidFill>
                        </a:rPr>
                        <a:t>Sofía</a:t>
                      </a:r>
                      <a:endParaRPr sz="7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Aquarius (1987)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Once (2007)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Ragtime (1982)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El vagón de la muerte (2008)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Slacker (1991)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A1A2E"/>
                          </a:solidFill>
                        </a:rPr>
                        <a:t>Diego</a:t>
                      </a:r>
                      <a:endParaRPr sz="7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El único (2002)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The Punisher (2004)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El coche fantástico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Snake Eyes (1998)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Una historia de violencia (2005)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A1A2E"/>
                          </a:solidFill>
                        </a:rPr>
                        <a:t>Elena</a:t>
                      </a:r>
                      <a:endParaRPr sz="7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El orfanato (2007)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A la deriva (2006)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Red Rock West (1995)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Reeker (2006)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La tostadora valiente (1994)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A1A2E"/>
                          </a:solidFill>
                        </a:rPr>
                        <a:t>Facundo</a:t>
                      </a:r>
                      <a:endParaRPr sz="7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Inland Empire (2007)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El bosque (2004)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Misteriosa obsesión (2004)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La trama (1998)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Proyecto Brainstorm (1983)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A1A2E"/>
                          </a:solidFill>
                        </a:rPr>
                        <a:t>Julián</a:t>
                      </a:r>
                      <a:endParaRPr sz="7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El último gran héroe (1993)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La bella y la bestia (1992)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Agárralo como puedas (1989)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El último golpe (2003)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La noche del duende (1993)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A1A2E"/>
                          </a:solidFill>
                        </a:rPr>
                        <a:t>Mariana</a:t>
                      </a:r>
                      <a:endParaRPr sz="7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Top Chef (2006)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Frasier (1993)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Un entrenador de primera (1996)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Cory en la Casa Blanca (2007)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Super Size Me (2004)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A1A2E"/>
                          </a:solidFill>
                        </a:rPr>
                        <a:t>Nicolás</a:t>
                      </a:r>
                      <a:endParaRPr sz="7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El último golpe (2003)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Razas de noche (1990)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El último gran héroe (1993)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Sé lo que hicisteis... (1998)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13 (2020)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A1A2E"/>
                          </a:solidFill>
                        </a:rPr>
                        <a:t>Paula</a:t>
                      </a:r>
                      <a:endParaRPr sz="7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Nowhere (1997)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Memorias de un hombre invisible (1993)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Three (2006)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Amor loco (1995)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Cueste lo que cueste (2000)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Enfoque 2 — Métricas por Usuario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7" name="Google Shape;187;p11"/>
          <p:cNvGraphicFramePr/>
          <p:nvPr/>
        </p:nvGraphicFramePr>
        <p:xfrm>
          <a:off x="274320" y="960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{D60C57BC-B5FC-4691-A6F9-2A176647A362}</a:tableStyleId>
              </a:tblPr>
              <a:tblGrid>
                <a:gridCol w="1645925"/>
                <a:gridCol w="1005850"/>
                <a:gridCol w="1005850"/>
                <a:gridCol w="914400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Usuario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Recall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Precisión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F1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C3AED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</a:rPr>
                        <a:t>Valentina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100.0%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100.0%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100.0%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</a:rPr>
                        <a:t>Rodrigo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66.7%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80.0%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72.7%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</a:rPr>
                        <a:t>Camila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33.3%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100.0%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50.0%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</a:rPr>
                        <a:t>Tomás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100.0%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80.0%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88.9%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</a:rPr>
                        <a:t>Lucía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100.0%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60.0%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75.0%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</a:rPr>
                        <a:t>Martín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100.0%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100.0%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100.0%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</a:rPr>
                        <a:t>Sofía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100.0%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60.0%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75.0%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</a:rPr>
                        <a:t>Diego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66.7%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100.0%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80.0%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</a:rPr>
                        <a:t>Elena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33.3%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60.0%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42.9%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A2E"/>
                          </a:solidFill>
                        </a:rPr>
                        <a:t>Promedio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4A5568"/>
                          </a:solidFill>
                        </a:rPr>
                        <a:t>77.8%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4A5568"/>
                          </a:solidFill>
                        </a:rPr>
                        <a:t>82.2%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4A5568"/>
                          </a:solidFill>
                        </a:rPr>
                        <a:t>76.1%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188" name="Google Shape;188;p11"/>
          <p:cNvSpPr/>
          <p:nvPr/>
        </p:nvSpPr>
        <p:spPr>
          <a:xfrm>
            <a:off x="5120640" y="960120"/>
            <a:ext cx="3749040" cy="4023360"/>
          </a:xfrm>
          <a:prstGeom prst="roundRect">
            <a:avLst>
              <a:gd fmla="val 195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"/>
          <p:cNvSpPr/>
          <p:nvPr/>
        </p:nvSpPr>
        <p:spPr>
          <a:xfrm>
            <a:off x="5257800" y="10972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📝  Observaci</a:t>
            </a:r>
            <a:r>
              <a:rPr b="1" lang="en-US" sz="1300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ones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5257800" y="1554480"/>
            <a:ext cx="34747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F1 más bajo en métricas (76.1%), pero mayor coherencia cualitativa (ver e</a:t>
            </a:r>
            <a: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xactitud)</a:t>
            </a: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Maneja relativamente bien perfiles ambiguos: invierte la dirección de búsqueda cuando el usuario pide 'algo distinto'.</a:t>
            </a:r>
            <a:endParaRPr b="0" i="0" sz="1100" u="none" cap="none" strike="noStrike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La métrica de medición humana sobre perfiles definidos:</a:t>
            </a:r>
            <a:b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Valentina: 3 de 5</a:t>
            </a:r>
            <a:endParaRPr sz="11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Rodrigo: 3 de 5</a:t>
            </a:r>
            <a:endParaRPr sz="11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Camila: 2 de 5</a:t>
            </a:r>
            <a:endParaRPr sz="11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Tomás: 1 de 5</a:t>
            </a:r>
            <a:endParaRPr sz="11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Lucía: 1 de 5</a:t>
            </a:r>
            <a:endParaRPr sz="11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Martín: 4 de 5</a:t>
            </a:r>
            <a:endParaRPr sz="11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Sofía: 2 de 5</a:t>
            </a:r>
            <a:endParaRPr sz="11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Diego: 3 de 5</a:t>
            </a:r>
            <a:endParaRPr sz="11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Elena: 0 de 5</a:t>
            </a:r>
            <a:endParaRPr sz="11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Total: 19 de 45 → Exactitud de 42.2%</a:t>
            </a:r>
            <a:endParaRPr b="1" sz="11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"/>
          <p:cNvSpPr/>
          <p:nvPr/>
        </p:nvSpPr>
        <p:spPr>
          <a:xfrm>
            <a:off x="0" y="1554480"/>
            <a:ext cx="9144000" cy="210312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Enfoque 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TF-IDF Ponderado con LLM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3"/>
          <p:cNvSpPr/>
          <p:nvPr/>
        </p:nvSpPr>
        <p:spPr>
          <a:xfrm>
            <a:off x="457200" y="2514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Misma lógica del Enfoque 2, pero con representación léxica TF-IDF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2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Enfoque 3 — ¿Cómo funciona?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274320" y="960120"/>
            <a:ext cx="5029200" cy="886968"/>
          </a:xfrm>
          <a:prstGeom prst="roundRect">
            <a:avLst>
              <a:gd fmla="val 8247" name="adj"/>
            </a:avLst>
          </a:prstGeom>
          <a:solidFill>
            <a:srgbClr val="FFFFFF"/>
          </a:solidFill>
          <a:ln cap="flat" cmpd="sng" w="1015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"/>
          <p:cNvSpPr/>
          <p:nvPr/>
        </p:nvSpPr>
        <p:spPr>
          <a:xfrm>
            <a:off x="384048" y="1207008"/>
            <a:ext cx="365760" cy="365760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2"/>
          <p:cNvSpPr/>
          <p:nvPr/>
        </p:nvSpPr>
        <p:spPr>
          <a:xfrm>
            <a:off x="384048" y="120700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822960" y="1014984"/>
            <a:ext cx="4343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144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Preprocesado extra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822960" y="1362456"/>
            <a:ext cx="4343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Las keywords en inglés se detectan y se traducen al español con GoogleTranslator. Luego se lematiza todo para unificar formas flexionadas.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274320" y="1965960"/>
            <a:ext cx="5029200" cy="886968"/>
          </a:xfrm>
          <a:prstGeom prst="roundRect">
            <a:avLst>
              <a:gd fmla="val 8247" name="adj"/>
            </a:avLst>
          </a:prstGeom>
          <a:solidFill>
            <a:srgbClr val="FFFFFF"/>
          </a:solidFill>
          <a:ln cap="flat" cmpd="sng" w="1015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2"/>
          <p:cNvSpPr/>
          <p:nvPr/>
        </p:nvSpPr>
        <p:spPr>
          <a:xfrm>
            <a:off x="384048" y="2212848"/>
            <a:ext cx="365760" cy="365760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"/>
          <p:cNvSpPr/>
          <p:nvPr/>
        </p:nvSpPr>
        <p:spPr>
          <a:xfrm>
            <a:off x="384048" y="221284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822960" y="2020824"/>
            <a:ext cx="4343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144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Vectorización TF-IDF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822960" y="2368296"/>
            <a:ext cx="4343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TfidfVectorizer con bigramas (1,2), min_df=2, max_df=0.5, sublinear_tf=True. Cada película → vector disperso en el espacio del vocabulario.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274320" y="2971800"/>
            <a:ext cx="5029200" cy="886968"/>
          </a:xfrm>
          <a:prstGeom prst="roundRect">
            <a:avLst>
              <a:gd fmla="val 8247" name="adj"/>
            </a:avLst>
          </a:prstGeom>
          <a:solidFill>
            <a:srgbClr val="FFFFFF"/>
          </a:solidFill>
          <a:ln cap="flat" cmpd="sng" w="1015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2"/>
          <p:cNvSpPr/>
          <p:nvPr/>
        </p:nvSpPr>
        <p:spPr>
          <a:xfrm>
            <a:off x="384048" y="3218688"/>
            <a:ext cx="365760" cy="365760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2"/>
          <p:cNvSpPr/>
          <p:nvPr/>
        </p:nvSpPr>
        <p:spPr>
          <a:xfrm>
            <a:off x="384048" y="321868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822960" y="3026664"/>
            <a:ext cx="4343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144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Misma ponderación que Enfoque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822960" y="3374136"/>
            <a:ext cx="4343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Se reusan los parametros_usuarios del LLM. query_tfidf y hist_tfidf se combinan con weighted_avg según la categoría asignada.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274320" y="3977640"/>
            <a:ext cx="5029200" cy="886968"/>
          </a:xfrm>
          <a:prstGeom prst="roundRect">
            <a:avLst>
              <a:gd fmla="val 8247" name="adj"/>
            </a:avLst>
          </a:prstGeom>
          <a:solidFill>
            <a:srgbClr val="FFFFFF"/>
          </a:solidFill>
          <a:ln cap="flat" cmpd="sng" w="1015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"/>
          <p:cNvSpPr/>
          <p:nvPr/>
        </p:nvSpPr>
        <p:spPr>
          <a:xfrm>
            <a:off x="384048" y="4224528"/>
            <a:ext cx="365760" cy="365760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2"/>
          <p:cNvSpPr/>
          <p:nvPr/>
        </p:nvSpPr>
        <p:spPr>
          <a:xfrm>
            <a:off x="384048" y="42245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822960" y="4032504"/>
            <a:ext cx="4343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144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Similitud coseno + top/bottom-5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822960" y="4379976"/>
            <a:ext cx="4343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Igual que el Enfoque 2, pero en el espacio TF-IDF. Si la categoría es historial_negativo, se toma el bottom-5.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5532120" y="960120"/>
            <a:ext cx="3337560" cy="4023360"/>
          </a:xfrm>
          <a:prstGeom prst="roundRect">
            <a:avLst>
              <a:gd fmla="val 2192" name="adj"/>
            </a:avLst>
          </a:prstGeom>
          <a:solidFill>
            <a:srgbClr val="FFFBEB"/>
          </a:solidFill>
          <a:ln cap="flat" cmpd="sng" w="10150">
            <a:solidFill>
              <a:srgbClr val="FCD34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2"/>
          <p:cNvSpPr/>
          <p:nvPr/>
        </p:nvSpPr>
        <p:spPr>
          <a:xfrm>
            <a:off x="5669280" y="1051560"/>
            <a:ext cx="3063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D97706"/>
                </a:solidFill>
                <a:latin typeface="Cambria"/>
                <a:ea typeface="Cambria"/>
                <a:cs typeface="Cambria"/>
                <a:sym typeface="Cambria"/>
              </a:rPr>
              <a:t>E2 vs E3  —  diferencia</a:t>
            </a:r>
            <a:r>
              <a:rPr b="1" lang="en-US" sz="1200">
                <a:solidFill>
                  <a:srgbClr val="D97706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5669280" y="1508760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mbria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Representación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5669280" y="1764792"/>
            <a:ext cx="30632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E2: Embedding semántico (dense, 384 dims)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5669280" y="2002536"/>
            <a:ext cx="30632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E3: TF-IDF léxico (sparse, vocab dims)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" name="Google Shape;232;p12"/>
          <p:cNvCxnSpPr/>
          <p:nvPr/>
        </p:nvCxnSpPr>
        <p:spPr>
          <a:xfrm>
            <a:off x="5669280" y="2304288"/>
            <a:ext cx="3063240" cy="0"/>
          </a:xfrm>
          <a:prstGeom prst="straightConnector1">
            <a:avLst/>
          </a:prstGeom>
          <a:noFill/>
          <a:ln cap="flat" cmpd="sng" w="9525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3" name="Google Shape;233;p12"/>
          <p:cNvSpPr/>
          <p:nvPr/>
        </p:nvSpPr>
        <p:spPr>
          <a:xfrm>
            <a:off x="5669280" y="2377440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mbria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Semántica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5669280" y="2633472"/>
            <a:ext cx="30632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E2: Captura sinónimos y paráfrasis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5669280" y="2871216"/>
            <a:ext cx="30632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E3: Solo coincidencia léxica exacta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6" name="Google Shape;236;p12"/>
          <p:cNvCxnSpPr/>
          <p:nvPr/>
        </p:nvCxnSpPr>
        <p:spPr>
          <a:xfrm>
            <a:off x="5669280" y="3172968"/>
            <a:ext cx="3063240" cy="0"/>
          </a:xfrm>
          <a:prstGeom prst="straightConnector1">
            <a:avLst/>
          </a:prstGeom>
          <a:noFill/>
          <a:ln cap="flat" cmpd="sng" w="9525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7" name="Google Shape;237;p12"/>
          <p:cNvSpPr/>
          <p:nvPr/>
        </p:nvSpPr>
        <p:spPr>
          <a:xfrm>
            <a:off x="5669280" y="3246120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mbria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Traducción kw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5669280" y="3502152"/>
            <a:ext cx="30632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E2: No necesaria (modelo multilingüe)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5669280" y="3739896"/>
            <a:ext cx="30632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E3: Necesaria para reducir dispersión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" name="Google Shape;240;p12"/>
          <p:cNvCxnSpPr/>
          <p:nvPr/>
        </p:nvCxnSpPr>
        <p:spPr>
          <a:xfrm>
            <a:off x="5669280" y="4041648"/>
            <a:ext cx="3063240" cy="0"/>
          </a:xfrm>
          <a:prstGeom prst="straightConnector1">
            <a:avLst/>
          </a:prstGeom>
          <a:noFill/>
          <a:ln cap="flat" cmpd="sng" w="9525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12"/>
          <p:cNvSpPr/>
          <p:nvPr/>
        </p:nvSpPr>
        <p:spPr>
          <a:xfrm>
            <a:off x="5669280" y="4114800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mbria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Lematización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5669280" y="4370832"/>
            <a:ext cx="30632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E2: No necesaria (subword tokens)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5669280" y="4608576"/>
            <a:ext cx="30632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E3: Necesaria</a:t>
            </a:r>
            <a:r>
              <a:rPr b="0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 (cada flexión = dim distinta)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4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4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Enfoque 3 — Top-5 Recomendaciones por Usuario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1" name="Google Shape;251;p14"/>
          <p:cNvGraphicFramePr/>
          <p:nvPr/>
        </p:nvGraphicFramePr>
        <p:xfrm>
          <a:off x="13716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{D60C57BC-B5FC-4691-A6F9-2A176647A362}</a:tableStyleId>
              </a:tblPr>
              <a:tblGrid>
                <a:gridCol w="914400"/>
                <a:gridCol w="1591050"/>
                <a:gridCol w="1591050"/>
                <a:gridCol w="1591050"/>
                <a:gridCol w="1591050"/>
                <a:gridCol w="15910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Usuario</a:t>
                      </a:r>
                      <a:endParaRPr sz="9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#1</a:t>
                      </a:r>
                      <a:endParaRPr sz="9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#2</a:t>
                      </a:r>
                      <a:endParaRPr sz="9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#3</a:t>
                      </a:r>
                      <a:endParaRPr sz="9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#4</a:t>
                      </a:r>
                      <a:endParaRPr sz="9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#5</a:t>
                      </a:r>
                      <a:endParaRPr sz="9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7706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A1A2E"/>
                          </a:solidFill>
                        </a:rPr>
                        <a:t>Valentina</a:t>
                      </a:r>
                      <a:endParaRPr sz="7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Inseparables (1989)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Cabin Fever 2 (2011)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Los ríos de color púrpura 2 (2004)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El hombre sin sombra (2000)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Suavemente me mata (2002)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A1A2E"/>
                          </a:solidFill>
                        </a:rPr>
                        <a:t>Rodrigo</a:t>
                      </a:r>
                      <a:endParaRPr sz="7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Maleficio (2006)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El expreso de Elmira (2008)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Buenas noches, y buena suerte (2006)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El asesinato de R. Nixon (2006)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Machuca (2004)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A1A2E"/>
                          </a:solidFill>
                        </a:rPr>
                        <a:t>Camila</a:t>
                      </a:r>
                      <a:endParaRPr sz="7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Loverboy (1989)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Padre Made in USA (2005)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Forasteros en Nueva York (1999)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Testigo accidental (1990)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La posesión (1981)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A1A2E"/>
                          </a:solidFill>
                        </a:rPr>
                        <a:t>Tomás</a:t>
                      </a:r>
                      <a:endParaRPr sz="7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Gothika (2004)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Halloweentown (1998)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Así se hace (2001)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El aceite de la vida (1993)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Joint Security Area (2000)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A1A2E"/>
                          </a:solidFill>
                        </a:rPr>
                        <a:t>Lucía</a:t>
                      </a:r>
                      <a:endParaRPr sz="7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V de Vendetta (2006)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Samurai Jack (2017)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Haru en el reino de los gatos (2002)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Cheque en blanco (1994)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Libertad para morir (1991)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A1A2E"/>
                          </a:solidFill>
                        </a:rPr>
                        <a:t>Martín</a:t>
                      </a:r>
                      <a:endParaRPr sz="7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Phantoms (1998)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Los idiotas (1999)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La cena (2010)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Pret-a-porter (1995)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La rebelión de las máquinas (1986)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A1A2E"/>
                          </a:solidFill>
                        </a:rPr>
                        <a:t>Sofía</a:t>
                      </a:r>
                      <a:endParaRPr sz="7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The Shield (2003)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Begotten (1991)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Adiós, muchachos (1989)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Los fabulosos Baker Boys (1990)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El rey de la comedia (1982)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A1A2E"/>
                          </a:solidFill>
                        </a:rPr>
                        <a:t>Diego</a:t>
                      </a:r>
                      <a:endParaRPr sz="7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Las aventuras de Jackie Chan (2000)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Justa venganza (2005)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Pusher 3 (2005)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Air America (1990)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Luna negra (1987)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A1A2E"/>
                          </a:solidFill>
                        </a:rPr>
                        <a:t>Elena</a:t>
                      </a:r>
                      <a:endParaRPr sz="7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Padre Ted (1995)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Algo en común (2005)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Click (2006)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Bienvenido a Mooseport (2004)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South Park (1997)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A1A2E"/>
                          </a:solidFill>
                        </a:rPr>
                        <a:t>Facundo</a:t>
                      </a:r>
                      <a:endParaRPr sz="7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Koyaanisqatsi (1984)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Innocence (2005)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Noviembre dulce (2001)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Lars y una chica de verdad (2008)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Juno (2008)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A1A2E"/>
                          </a:solidFill>
                        </a:rPr>
                        <a:t>Julián</a:t>
                      </a:r>
                      <a:endParaRPr sz="7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Pride &amp; Prejudice (2006)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El príncipe y yo (2004)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Salvaje / The Wild (2006)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Los Tommyknockers (1993)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RoboCop 2 (1991)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A1A2E"/>
                          </a:solidFill>
                        </a:rPr>
                        <a:t>Mariana</a:t>
                      </a:r>
                      <a:endParaRPr sz="7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Déjà vu (2006)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Warlock, el brujo (1990)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Fuga mortal (1993)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Ted Bundy (2003)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The Zodiac (2006)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A1A2E"/>
                          </a:solidFill>
                        </a:rPr>
                        <a:t>Nicolás</a:t>
                      </a:r>
                      <a:endParaRPr sz="7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El señor de los anillos: Retorno...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Kill Bill Vol.2 (2004)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El señor de los anillos: Las dos torres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La leyenda de Billie Jean (1985)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Titanic - Animada (2000)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A1A2E"/>
                          </a:solidFill>
                        </a:rPr>
                        <a:t>Paula</a:t>
                      </a:r>
                      <a:endParaRPr sz="7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Transformers (1984)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Dragon Ball Z (1989)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Dragon Ball Z (2019)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El último unicornio (1982)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u="none" cap="none" strike="noStrike">
                          <a:solidFill>
                            <a:srgbClr val="4A5568"/>
                          </a:solidFill>
                        </a:rPr>
                        <a:t>Billy Elliot (2001)</a:t>
                      </a:r>
                      <a:endParaRPr sz="7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5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5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Enfoque 3 — Métricas por Usuario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9" name="Google Shape;259;p15"/>
          <p:cNvGraphicFramePr/>
          <p:nvPr/>
        </p:nvGraphicFramePr>
        <p:xfrm>
          <a:off x="274320" y="960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{D60C57BC-B5FC-4691-A6F9-2A176647A362}</a:tableStyleId>
              </a:tblPr>
              <a:tblGrid>
                <a:gridCol w="1645925"/>
                <a:gridCol w="1005850"/>
                <a:gridCol w="1005850"/>
                <a:gridCol w="914400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Usuario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Recall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Precisión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F1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7706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</a:rPr>
                        <a:t>Valentina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100.0%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80.0%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88.9%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</a:rPr>
                        <a:t>Rodrigo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100.0%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100.0%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100.0%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</a:rPr>
                        <a:t>Camila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66.7%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80.0%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72.7%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</a:rPr>
                        <a:t>Tomás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66.7%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40.0%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50.0%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</a:rPr>
                        <a:t>Lucía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100.0%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60.0%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75.0%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</a:rPr>
                        <a:t>Martín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66.7%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80.0%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72.7%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</a:rPr>
                        <a:t>Sofía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100.0%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80.0%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88.9%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</a:rPr>
                        <a:t>Diego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100.0%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100.0%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100.0%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</a:rPr>
                        <a:t>Elena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100.0%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100.0%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5568"/>
                          </a:solidFill>
                        </a:rPr>
                        <a:t>100.0%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A2E"/>
                          </a:solidFill>
                        </a:rPr>
                        <a:t>Promedio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4A5568"/>
                          </a:solidFill>
                        </a:rPr>
                        <a:t>88.9%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4A5568"/>
                          </a:solidFill>
                        </a:rPr>
                        <a:t>80.0%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4A5568"/>
                          </a:solidFill>
                        </a:rPr>
                        <a:t>83.1%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260" name="Google Shape;260;p15"/>
          <p:cNvSpPr/>
          <p:nvPr/>
        </p:nvSpPr>
        <p:spPr>
          <a:xfrm>
            <a:off x="5120640" y="960120"/>
            <a:ext cx="3749040" cy="4023360"/>
          </a:xfrm>
          <a:prstGeom prst="roundRect">
            <a:avLst>
              <a:gd fmla="val 195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5"/>
          <p:cNvSpPr/>
          <p:nvPr/>
        </p:nvSpPr>
        <p:spPr>
          <a:xfrm>
            <a:off x="5257800" y="1005830"/>
            <a:ext cx="347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📝  Observaci</a:t>
            </a:r>
            <a:r>
              <a:rPr b="1" lang="en-US" sz="1300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ones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5"/>
          <p:cNvSpPr/>
          <p:nvPr/>
        </p:nvSpPr>
        <p:spPr>
          <a:xfrm>
            <a:off x="5257800" y="1554480"/>
            <a:ext cx="34747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F1 intermedio (83.1%), mejor de lo esperado para representación léxica pura.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Funciona bien cuando la query comparte vocabulario con las sinopsis ('corrupción', 'amenaza', 'hechos reales').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Falla en perfiles ambiguos: recomienda secuelas directas o títulos con nombre parcialmente coincidente en lugar de similitud temática real.</a:t>
            </a:r>
            <a:endParaRPr b="0" i="0" sz="1100" u="none" cap="none" strike="noStrike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La métrica de medición humana sobre perfiles definidos:</a:t>
            </a:r>
            <a:b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Valentina: 1 de 5</a:t>
            </a:r>
            <a:endParaRPr sz="11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Rodrigo: 2 de 5</a:t>
            </a:r>
            <a:endParaRPr sz="11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Camila: 0 de 5</a:t>
            </a:r>
            <a:endParaRPr sz="11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Tomás: 0 de 5</a:t>
            </a:r>
            <a:endParaRPr sz="11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Lucía: 1 de 5</a:t>
            </a:r>
            <a:endParaRPr sz="11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Martín: 0 de 5</a:t>
            </a:r>
            <a:endParaRPr sz="11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Sofía: 1 de 5</a:t>
            </a:r>
            <a:endParaRPr sz="11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Diego: 3 de 5</a:t>
            </a:r>
            <a:endParaRPr sz="11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Elena: 1 de 5</a:t>
            </a:r>
            <a:endParaRPr sz="11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Total: 9 de 45 → Exactitud de 20%</a:t>
            </a:r>
            <a:endParaRPr sz="11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6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6"/>
          <p:cNvSpPr/>
          <p:nvPr/>
        </p:nvSpPr>
        <p:spPr>
          <a:xfrm>
            <a:off x="274320" y="0"/>
            <a:ext cx="8595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Conclusión: ¿Cuál enfoque elegir?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0" name="Google Shape;270;p16"/>
          <p:cNvGraphicFramePr/>
          <p:nvPr/>
        </p:nvGraphicFramePr>
        <p:xfrm>
          <a:off x="27432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{D60C57BC-B5FC-4691-A6F9-2A176647A362}</a:tableStyleId>
              </a:tblPr>
              <a:tblGrid>
                <a:gridCol w="1432575"/>
                <a:gridCol w="614350"/>
                <a:gridCol w="829550"/>
                <a:gridCol w="668175"/>
                <a:gridCol w="825150"/>
                <a:gridCol w="4225525"/>
              </a:tblGrid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Enfoque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83A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Recall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83A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Precisión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83A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F1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83A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</a:rPr>
                        <a:t>Exactitud Humana</a:t>
                      </a:r>
                      <a:endParaRPr b="1" sz="1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83A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Fortaleza clave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83A5E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</a:rPr>
                        <a:t>Enfoque 1 — Embeddings ST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65F46"/>
                          </a:solidFill>
                        </a:rPr>
                        <a:t>88.9%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65F46"/>
                          </a:solidFill>
                        </a:rPr>
                        <a:t>91.1%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65F46"/>
                          </a:solidFill>
                        </a:rPr>
                        <a:t>88.8%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>
                          <a:solidFill>
                            <a:srgbClr val="065F46"/>
                          </a:solidFill>
                        </a:rPr>
                        <a:t>35.5</a:t>
                      </a:r>
                      <a:r>
                        <a:rPr b="1" lang="en-US" sz="1100">
                          <a:solidFill>
                            <a:srgbClr val="065F46"/>
                          </a:solidFill>
                        </a:rPr>
                        <a:t>%</a:t>
                      </a:r>
                      <a:endParaRPr sz="900" u="none" cap="none" strike="noStrike">
                        <a:solidFill>
                          <a:srgbClr val="4A5568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A5568"/>
                          </a:solidFill>
                        </a:rPr>
                        <a:t>Mejor métrica agregada. Captura semántica general del género.</a:t>
                      </a:r>
                      <a:endParaRPr sz="9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C3AED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7C3AED"/>
                          </a:solidFill>
                        </a:rPr>
                        <a:t>Enfoque 2 — Embeddings + LLM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21B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5B21B6"/>
                          </a:solidFill>
                        </a:rPr>
                        <a:t>77.8%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21B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5B21B6"/>
                          </a:solidFill>
                        </a:rPr>
                        <a:t>82.2%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21B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5B21B6"/>
                          </a:solidFill>
                        </a:rPr>
                        <a:t>76.1%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21B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>
                          <a:solidFill>
                            <a:srgbClr val="5B21B6"/>
                          </a:solidFill>
                        </a:rPr>
                        <a:t>42.2</a:t>
                      </a:r>
                      <a:r>
                        <a:rPr b="1" lang="en-US" sz="1100">
                          <a:solidFill>
                            <a:srgbClr val="5B21B6"/>
                          </a:solidFill>
                        </a:rPr>
                        <a:t>%</a:t>
                      </a:r>
                      <a:endParaRPr sz="900" u="none" cap="none" strike="noStrike">
                        <a:solidFill>
                          <a:srgbClr val="4A5568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A5568"/>
                          </a:solidFill>
                        </a:rPr>
                        <a:t>Mayor coherencia cualitativa. Maneja casos ambiguos.</a:t>
                      </a:r>
                      <a:endParaRPr sz="9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5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7706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D97706"/>
                          </a:solidFill>
                        </a:rPr>
                        <a:t>Enfoque 3 — TF-IDF + LLM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400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92400E"/>
                          </a:solidFill>
                        </a:rPr>
                        <a:t>88.9%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400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92400E"/>
                          </a:solidFill>
                        </a:rPr>
                        <a:t>80.0%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400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92400E"/>
                          </a:solidFill>
                        </a:rPr>
                        <a:t>83.1%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400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>
                          <a:solidFill>
                            <a:srgbClr val="92400E"/>
                          </a:solidFill>
                        </a:rPr>
                        <a:t>20</a:t>
                      </a:r>
                      <a:r>
                        <a:rPr b="1" lang="en-US" sz="1100">
                          <a:solidFill>
                            <a:srgbClr val="92400E"/>
                          </a:solidFill>
                        </a:rPr>
                        <a:t>%</a:t>
                      </a:r>
                      <a:endParaRPr sz="900" u="none" cap="none" strike="noStrike">
                        <a:solidFill>
                          <a:srgbClr val="4A5568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A5568"/>
                          </a:solidFill>
                        </a:rPr>
                        <a:t>Competitivo con vocabulario explícito. Falla en similitud temática profunda.</a:t>
                      </a:r>
                      <a:endParaRPr sz="9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BEB"/>
                    </a:solidFill>
                  </a:tcPr>
                </a:tc>
              </a:tr>
            </a:tbl>
          </a:graphicData>
        </a:graphic>
      </p:graphicFrame>
      <p:sp>
        <p:nvSpPr>
          <p:cNvPr id="271" name="Google Shape;271;p16"/>
          <p:cNvSpPr/>
          <p:nvPr/>
        </p:nvSpPr>
        <p:spPr>
          <a:xfrm>
            <a:off x="274320" y="3246120"/>
            <a:ext cx="8595360" cy="1463040"/>
          </a:xfrm>
          <a:prstGeom prst="roundRect">
            <a:avLst>
              <a:gd fmla="val 5000" name="adj"/>
            </a:avLst>
          </a:prstGeom>
          <a:solidFill>
            <a:srgbClr val="1E3A5F"/>
          </a:solidFill>
          <a:ln cap="flat" cmpd="sng" w="1905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6"/>
          <p:cNvSpPr/>
          <p:nvPr/>
        </p:nvSpPr>
        <p:spPr>
          <a:xfrm>
            <a:off x="502920" y="3319272"/>
            <a:ext cx="8138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E94560"/>
                </a:solidFill>
                <a:latin typeface="Cambria"/>
                <a:ea typeface="Cambria"/>
                <a:cs typeface="Cambria"/>
                <a:sym typeface="Cambria"/>
              </a:rPr>
              <a:t>⚠  Advertencia </a:t>
            </a:r>
            <a:r>
              <a:rPr b="1" lang="en-US" sz="1300">
                <a:solidFill>
                  <a:srgbClr val="E94560"/>
                </a:solidFill>
                <a:latin typeface="Cambria"/>
                <a:ea typeface="Cambria"/>
                <a:cs typeface="Cambria"/>
                <a:sym typeface="Cambria"/>
              </a:rPr>
              <a:t>sobre las métricas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6"/>
          <p:cNvSpPr/>
          <p:nvPr/>
        </p:nvSpPr>
        <p:spPr>
          <a:xfrm>
            <a:off x="502920" y="3703320"/>
            <a:ext cx="8138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Las métricas fueron calculadas sobre una muestra de tan solo 9 usuarios y pueden cambiar drásticamente al escalar la muestra de testeo. No se pueden tomar decisiones concluyentes, pero lo visto puede dar una idea sobre </a:t>
            </a:r>
            <a:r>
              <a:rPr lang="en-US" sz="11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cómo</a:t>
            </a:r>
            <a:r>
              <a:rPr lang="en-US" sz="11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 puede funcionar un sistema de recomendación basado en NLP.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2026-06-21T21:28:15Z</dcterms:created>
  <dc:creator>PptxGenJS</dc:creator>
</cp:coreProperties>
</file>